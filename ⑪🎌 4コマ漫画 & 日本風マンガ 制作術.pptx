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タイトル。Nano Banana Proを使った4コマ漫画・日本風マンガ制作をIT研修講師向けに実践解説するデッキ。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AI漫画を使う理由。テキスト中心の研修資料の限界と、漫画による伝達力UPを対比で示す。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3ツールの全体像。プロバナナ・Easy Banana・ChatGPTの役割分担を整理する。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Banana の初期セットアップ4ステップ。最初の一回だけで以後ずっと使える。</a:t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キャラクターシート作成はすべての漫画制作の出発点。一度作れば何度でも使い回せる。</a:t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4コマ制作フロー。ChatGPTで台本→プロバナナで生成 の2ステップが最速。</a:t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研修場面別プロンプト実例。コピペして使える形式で提供。</a:t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マンガ的強調表現6種。「漫画のような表現」プロンプトを添えるだけで強調表現が追加される。</a:t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応用編。4コマ以外にサムネ・図解・コミックエッセイ・スライドにも展開できる。</a:t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よくある失敗パターンと解決策。初心者が詰まるポイントを網羅した早見表。</a:t>
            </a:r>
            <a:endParaRPr/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まとめ。AI漫画制作実践5か条。研修講師がプロバナナを使う上での核心をまとめる。</a:t>
            </a:r>
            <a:endParaRPr/>
          </a:p>
        </p:txBody>
      </p:sp>
      <p:sp>
        <p:nvSpPr>
          <p:cNvPr id="373" name="Google Shape;3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F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675120" y="-1280160"/>
            <a:ext cx="4754880" cy="4754880"/>
          </a:xfrm>
          <a:prstGeom prst="ellipse">
            <a:avLst/>
          </a:prstGeom>
          <a:solidFill>
            <a:srgbClr val="8B1A4A">
              <a:alpha val="4784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4A2030">
              <a:alpha val="45098"/>
            </a:srgbClr>
          </a:solidFill>
          <a:ln cap="flat" cmpd="sng" w="1270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863840" y="3200400"/>
            <a:ext cx="2011680" cy="2011680"/>
          </a:xfrm>
          <a:prstGeom prst="ellipse">
            <a:avLst/>
          </a:prstGeom>
          <a:solidFill>
            <a:srgbClr val="D4698A">
              <a:alpha val="5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65760"/>
            <a:ext cx="2560320" cy="347472"/>
          </a:xfrm>
          <a:prstGeom prst="roundRect">
            <a:avLst>
              <a:gd fmla="val 21053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Nano Banana Pro × IT研修講師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804672"/>
            <a:ext cx="64008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🎌 4コマ漫画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日本風マンガ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制作術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547872"/>
            <a:ext cx="7772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IT研修講師のための「AI漫画」フル実践ガイド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研修資料・SNS・社内発信を一気にパワーアップ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43600" y="47548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うさうさ研修工房 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20040" y="0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97280" y="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なぜIT研修講師に「AI漫画」が必要なのか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47472" y="1078992"/>
            <a:ext cx="4069080" cy="3749040"/>
          </a:xfrm>
          <a:prstGeom prst="roundRect">
            <a:avLst>
              <a:gd fmla="val 3415" name="adj"/>
            </a:avLst>
          </a:prstGeom>
          <a:solidFill>
            <a:srgbClr val="F2D7E0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75488" y="1170432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😔 研修あるある「伝わらない」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" y="1572768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テキストだけの資料は読まれない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30352" y="208483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説明が長くなって受講者が飽きる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30352" y="2596896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Slack・社内記事が流し読みされる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30352" y="310896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抽象的な概念が頭に入らない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30352" y="3621024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「面白くない」が本音…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27448" y="1078992"/>
            <a:ext cx="4069080" cy="3749040"/>
          </a:xfrm>
          <a:prstGeom prst="roundRect">
            <a:avLst>
              <a:gd fmla="val 3415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46320" y="1170432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AI漫画で解決！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46320" y="1572768"/>
            <a:ext cx="658368" cy="365760"/>
          </a:xfrm>
          <a:prstGeom prst="roundRect">
            <a:avLst>
              <a:gd fmla="val 17500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846320" y="1572768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視覚化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577840" y="1600200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文章の3倍速く伝わる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46320" y="2084832"/>
            <a:ext cx="658368" cy="365760"/>
          </a:xfrm>
          <a:prstGeom prst="roundRect">
            <a:avLst>
              <a:gd fmla="val 17500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846320" y="208483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記憶定着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577840" y="2112264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ストーリーは忘れにくい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846320" y="2596896"/>
            <a:ext cx="658368" cy="365760"/>
          </a:xfrm>
          <a:prstGeom prst="roundRect">
            <a:avLst>
              <a:gd fmla="val 17500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846320" y="2596896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SNS拡散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577840" y="2624328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漫画は流れない・保存される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46320" y="3108960"/>
            <a:ext cx="658368" cy="365760"/>
          </a:xfrm>
          <a:prstGeom prst="roundRect">
            <a:avLst>
              <a:gd fmla="val 17500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3108960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親しみやすさ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577840" y="3136392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キャラで距離感が縮まる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46320" y="3621024"/>
            <a:ext cx="658368" cy="365760"/>
          </a:xfrm>
          <a:prstGeom prst="roundRect">
            <a:avLst>
              <a:gd fmla="val 17500" name="adj"/>
            </a:avLst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846320" y="362102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制作コスト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577840" y="3648456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1枚20円・5分で完成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47472" y="4828032"/>
            <a:ext cx="8458200" cy="274320"/>
          </a:xfrm>
          <a:prstGeom prst="roundRect">
            <a:avLst>
              <a:gd fmla="val 23333" name="adj"/>
            </a:avLst>
          </a:prstGeom>
          <a:solidFill>
            <a:srgbClr val="5C0F30"/>
          </a:solidFill>
          <a:ln cap="flat" cmpd="sng" w="12700">
            <a:solidFill>
              <a:srgbClr val="5C0F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47472" y="4828032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Nano Banana Pro × Easy Banana があれば、講師歴0日でも「教材漫画」が作れる時代です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20040" y="0"/>
            <a:ext cx="822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43000" y="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使うツール全体像 — 3本柱を押さえる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47472" y="1078992"/>
            <a:ext cx="845820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905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75488" y="1207008"/>
            <a:ext cx="566928" cy="56692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75488" y="1207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70432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Nano Banana Pro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170432" y="144475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（通称：プロバナナ）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170432" y="164592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画像生成AI の核心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480560" y="1170432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Googleが開発した最先端画像生成AI。キャラの一貫性が高く、4コマ・マンガのコマ割りまでプロンプト1本で生成できる。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480560" y="17373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💰 1枚 約20円（Easy Banana経由）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47472" y="2340864"/>
            <a:ext cx="845820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905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75488" y="2468880"/>
            <a:ext cx="566928" cy="566928"/>
          </a:xfrm>
          <a:prstGeom prst="ellipse">
            <a:avLst/>
          </a:prstGeom>
          <a:solidFill>
            <a:srgbClr val="4A2030"/>
          </a:solidFill>
          <a:ln cap="flat" cmpd="sng" w="1270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75488" y="24688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70432" y="24323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Easy Banana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70432" y="270662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（Chrome拡張）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70432" y="29077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プロバナナを従量課金で使うUI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480560" y="2432304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個人エンジニア開発のChrome拡張機能。月額不要・使った分だけ課金。falのAPIキーを登録するだけでプロバナナが即使える。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480560" y="29992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💰 初期設定：falにクレジットカード登録→チャージ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47472" y="3602736"/>
            <a:ext cx="845820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905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75488" y="3730752"/>
            <a:ext cx="566928" cy="566928"/>
          </a:xfrm>
          <a:prstGeom prst="ellipse">
            <a:avLst/>
          </a:prstGeom>
          <a:solidFill>
            <a:srgbClr val="C49A6C"/>
          </a:solidFill>
          <a:ln cap="flat" cmpd="sng" w="12700">
            <a:solidFill>
              <a:srgbClr val="C49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75488" y="373075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70432" y="369417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ChatGPT / Gemini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170432" y="396849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（プロンプト生成補助）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70432" y="416966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プロンプト設計とコマ割り台本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480560" y="3694176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漫画の台本（セリフ・コマ構成）をAIに考えさせ、そのままプロバナナに投入する。プロンプト設計のパートナー。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480560" y="4261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💰 無料プランで十分（Deep Researchは有料）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20040" y="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STEP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325880" y="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 Banana セットアップ — 最初の5分で完了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47472" y="1078992"/>
            <a:ext cx="4251960" cy="1783080"/>
          </a:xfrm>
          <a:prstGeom prst="roundRect">
            <a:avLst>
              <a:gd fmla="val 6667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84632" y="1197864"/>
            <a:ext cx="475488" cy="47548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84632" y="119786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60704" y="11978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Chrome拡張をインストール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512064" y="1645920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512064" y="1719072"/>
            <a:ext cx="3977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配布zipをDL → Chromeで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chrome://extensions を開く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「デベロッパーモード」ON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→「パッケージ化されていない拡張機能を読み込む」で解凍フォルダを選択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82312" y="1078992"/>
            <a:ext cx="4251960" cy="1783080"/>
          </a:xfrm>
          <a:prstGeom prst="roundRect">
            <a:avLst>
              <a:gd fmla="val 6667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919472" y="1197864"/>
            <a:ext cx="475488" cy="47548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919472" y="119786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95544" y="11978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falにアカウント作成・課金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6"/>
          <p:cNvCxnSpPr/>
          <p:nvPr/>
        </p:nvCxnSpPr>
        <p:spPr>
          <a:xfrm>
            <a:off x="4946904" y="1645920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6"/>
          <p:cNvSpPr/>
          <p:nvPr/>
        </p:nvSpPr>
        <p:spPr>
          <a:xfrm>
            <a:off x="4946904" y="1719072"/>
            <a:ext cx="3977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fal.ai にアクセスしてアカウント作成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クレジットカード登録後に残高をチャージ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（1,500円 ≒ 10ドル が目安）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47472" y="2980944"/>
            <a:ext cx="4251960" cy="1783080"/>
          </a:xfrm>
          <a:prstGeom prst="roundRect">
            <a:avLst>
              <a:gd fmla="val 6667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84632" y="3099816"/>
            <a:ext cx="475488" cy="47548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84632" y="309981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60704" y="30998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APIキーの登録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512064" y="3547872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512064" y="3621024"/>
            <a:ext cx="3977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falの管理画面でAPIキーを発行・コピー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→ Easy Bananaの設定画面に貼り付け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これだけでプロバナナが使える状態に！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782312" y="2980944"/>
            <a:ext cx="4251960" cy="1783080"/>
          </a:xfrm>
          <a:prstGeom prst="roundRect">
            <a:avLst>
              <a:gd fmla="val 6667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919472" y="3099816"/>
            <a:ext cx="475488" cy="47548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919472" y="309981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95544" y="30998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動作確認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4946904" y="3547872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4946904" y="3621024"/>
            <a:ext cx="3977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Easy Bananaを開いてモデルを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「nano-banana-pro edit」に設定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試しに1枚画像を生成して表示されればOK！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（1回 約20円）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7472" y="4828032"/>
            <a:ext cx="8458200" cy="274320"/>
          </a:xfrm>
          <a:prstGeom prst="roundRect">
            <a:avLst>
              <a:gd fmla="val 23333" name="adj"/>
            </a:avLst>
          </a:prstGeom>
          <a:solidFill>
            <a:srgbClr val="F2D7E0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47472" y="4828032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⚠️ Chromeブラウザ必須 ／ スマホ不可 ／ 従量課金なので使った分だけ — 解約忘れゼロ！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20040" y="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325880" y="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キャラクターシートを作る — 漫画の「核」を準備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47472" y="1078992"/>
            <a:ext cx="4572000" cy="3749040"/>
          </a:xfrm>
          <a:prstGeom prst="roundRect">
            <a:avLst>
              <a:gd fmla="val 3415" name="adj"/>
            </a:avLst>
          </a:prstGeom>
          <a:solidFill>
            <a:srgbClr val="FFFFFF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5488" y="1170432"/>
            <a:ext cx="4315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📋 作成手順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75488" y="1591056"/>
            <a:ext cx="347472" cy="347472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75488" y="15910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0" y="1591056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自撮り写真 or キャラ画像を用意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14400" y="1828800"/>
            <a:ext cx="3886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ちびキャラにしたい人物の写真、または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Midjourneyで作ったキャラ画像を準備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5488" y="2359152"/>
            <a:ext cx="347472" cy="347472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75488" y="2359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400" y="2359152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Easy Banana に画像を読み込む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914400" y="2596896"/>
            <a:ext cx="3886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「nano-banana-pro edit」を選択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参考画像欄に写真をドラッグ＆ドロップ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75488" y="3127248"/>
            <a:ext cx="347472" cy="347472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75488" y="31272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914400" y="312724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プロンプトで三面図を指示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14400" y="3364992"/>
            <a:ext cx="3886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「ちびキャラの三面図キャラクターシートを作って。文字は除去」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16:9のアスペクト比を推奨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5488" y="3895344"/>
            <a:ext cx="347472" cy="347472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75488" y="38953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14400" y="3895344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全身版も追加生成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14400" y="4133088"/>
            <a:ext cx="3886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三面図を読み込ませ「表情バリエーション付き全身版」を追加生成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足元まで描かせることが重要！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138928" y="1078992"/>
            <a:ext cx="3657600" cy="3749040"/>
          </a:xfrm>
          <a:prstGeom prst="roundRect">
            <a:avLst>
              <a:gd fmla="val 3500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257800" y="1170432"/>
            <a:ext cx="34015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キャラデザのコツ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285232" y="157276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614416" y="1572768"/>
            <a:ext cx="3090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シンプルなデザインを選ぶ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614416" y="181051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複雑な柄・装飾はAIが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毎回変えてしまう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285232" y="212140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614416" y="2121408"/>
            <a:ext cx="3090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左右対称にする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614416" y="235915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オッドアイ・片目の傷など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左右非対称は避ける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285232" y="267004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614416" y="2670048"/>
            <a:ext cx="3090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色を絞る（白・黒多め）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614416" y="290779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色味が変わりにくく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一貫性が保ちやすい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285232" y="321868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614416" y="3218688"/>
            <a:ext cx="3090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「要素」で定義する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614416" y="345643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例：黒髪×ポニテ×ピンクリボン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→この3要素がそのキャラ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285232" y="37673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614416" y="3767328"/>
            <a:ext cx="3090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ガチャ覚悟で複数回生成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614416" y="4005072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理想のシートが出るまで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繰り返すのが基本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20040" y="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325880" y="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4コマ漫画の制作フロー — プロンプト1本で完成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47472" y="1078992"/>
            <a:ext cx="2011680" cy="2286000"/>
          </a:xfrm>
          <a:prstGeom prst="roundRect">
            <a:avLst>
              <a:gd fmla="val 5909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69848" y="1170432"/>
            <a:ext cx="566928" cy="56692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069848" y="11704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005840" y="1801368"/>
            <a:ext cx="6949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20624" y="234086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テーマ決め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20624" y="26334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研修で伝えたいこと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や受講者あるあるを1行でメモ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377440" y="190195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496312" y="1078992"/>
            <a:ext cx="2011680" cy="2286000"/>
          </a:xfrm>
          <a:prstGeom prst="roundRect">
            <a:avLst>
              <a:gd fmla="val 5909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218688" y="1170432"/>
            <a:ext cx="566928" cy="56692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218688" y="11704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154680" y="1801368"/>
            <a:ext cx="6949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569464" y="234086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台本をAIに作らせる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569464" y="26334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ChatGPTにテーマを渡して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4コマのセリフ構成を生成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26280" y="190195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45152" y="1078992"/>
            <a:ext cx="2011680" cy="2286000"/>
          </a:xfrm>
          <a:prstGeom prst="roundRect">
            <a:avLst>
              <a:gd fmla="val 5909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367528" y="1170432"/>
            <a:ext cx="566928" cy="56692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367528" y="11704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303520" y="1801368"/>
            <a:ext cx="6949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⌨️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18304" y="234086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プロンプト投入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718304" y="26334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キャラシート＋台本を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Easy Bananaに読み込む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675120" y="190195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793992" y="1078992"/>
            <a:ext cx="2011680" cy="2286000"/>
          </a:xfrm>
          <a:prstGeom prst="roundRect">
            <a:avLst>
              <a:gd fmla="val 5909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516368" y="1170432"/>
            <a:ext cx="566928" cy="566928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516368" y="11704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452360" y="1801368"/>
            <a:ext cx="6949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67144" y="234086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生成＆確認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867144" y="26334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1回20円で即生成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NG→再生成で調整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47472" y="3520440"/>
            <a:ext cx="8458200" cy="1536192"/>
          </a:xfrm>
          <a:prstGeom prst="roundRect">
            <a:avLst>
              <a:gd fmla="val 7143" name="adj"/>
            </a:avLst>
          </a:prstGeom>
          <a:solidFill>
            <a:srgbClr val="5C0F30"/>
          </a:solidFill>
          <a:ln cap="flat" cmpd="sng" w="12700">
            <a:solidFill>
              <a:srgbClr val="5C0F3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2920" y="3593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📝 プロンプトテンプレート（そのままコピーして使えます）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02920" y="3913632"/>
            <a:ext cx="827532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このキャラをもとに4コマ漫画を作って。コマ割りはテンプレを参考に。吹き出しを分けて読みやすく。右から左に読ませる日本のマンガ風。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タイトル「●●（研修テーマ）」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●1コマ目：場面説明＋キャラのセリフ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●2コマ目：展開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●3コマ目：山場・気づき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●4コマ目：オチ or 学びのまとめ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20040" y="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25880" y="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プロンプト実例集 — 研修場面別コピペ素材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47472" y="1078992"/>
            <a:ext cx="8458200" cy="190195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75488" y="11704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75488" y="11704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📌 新人向け / コーディングあるある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606040" y="11704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プロンプト例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75488" y="1536192"/>
            <a:ext cx="8211312" cy="1371600"/>
          </a:xfrm>
          <a:prstGeom prst="roundRect">
            <a:avLst>
              <a:gd fmla="val 5333" name="adj"/>
            </a:avLst>
          </a:prstGeom>
          <a:solidFill>
            <a:srgbClr val="5C0F30"/>
          </a:solidFill>
          <a:ln cap="flat" cmpd="sng" w="12700">
            <a:solidFill>
              <a:srgbClr val="5C0F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66928" y="1591056"/>
            <a:ext cx="802843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このキャラをもとに4コマ漫画を作って。右から左に読ませる日本のマンガ風。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タイトル「コードのコメント、大事だよ」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●1コマ目：意気揚々とコードを書く新人「コメントとか要らんでしょ（笑）」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●2コマ目：3ヶ月後、自分のコードを見て「…これ何してるんだ？」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●3コマ目：先輩に聞く「コメントは未来の自分への手紙やで」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●4コマ目：涙目で猛烈にコメントを書く「誰が書いたんだこんなの…（自分）」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47472" y="3090672"/>
            <a:ext cx="8458200" cy="190195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75488" y="318211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4A2030"/>
          </a:solidFill>
          <a:ln cap="flat" cmpd="sng" w="1270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75488" y="31821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📌 中堅向け / レビューあるある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606040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75488" y="3547872"/>
            <a:ext cx="8211312" cy="1371600"/>
          </a:xfrm>
          <a:prstGeom prst="roundRect">
            <a:avLst>
              <a:gd fmla="val 5333" name="adj"/>
            </a:avLst>
          </a:prstGeom>
          <a:solidFill>
            <a:srgbClr val="5C0F30"/>
          </a:solidFill>
          <a:ln cap="flat" cmpd="sng" w="12700">
            <a:solidFill>
              <a:srgbClr val="5C0F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66928" y="3602736"/>
            <a:ext cx="802843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このキャラをもとに4コマ漫画を作って。右から左に読ませる日本のマンガ風。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タイトル「レビューの作法」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●1コマ目：プルリクを出す「完璧です！」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●2コマ目：大量のコメントが返ってくる「…修正187件」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●3コマ目：凹んで先輩に相談「レビューは攻撃じゃなくて一緒に良くすることやで」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●4コマ目：次のPRは10件「成長！」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47472" y="5120640"/>
            <a:ext cx="8458200" cy="274320"/>
          </a:xfrm>
          <a:prstGeom prst="roundRect">
            <a:avLst>
              <a:gd fmla="val 23333" name="adj"/>
            </a:avLst>
          </a:prstGeom>
          <a:solidFill>
            <a:srgbClr val="F2D7E0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47472" y="5120640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💡 「右から左に読ませる日本のマンガ風」を必ず入れる ／ コマ割り指定で読み方が逆転しなくなる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20040" y="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325880" y="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表現技法 — マンガ的強調でキャラを生かす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47472" y="107899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38912" y="115214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941832" y="117043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集中線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0"/>
          <p:cNvCxnSpPr/>
          <p:nvPr/>
        </p:nvCxnSpPr>
        <p:spPr>
          <a:xfrm>
            <a:off x="457200" y="157276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0"/>
          <p:cNvSpPr/>
          <p:nvPr/>
        </p:nvSpPr>
        <p:spPr>
          <a:xfrm>
            <a:off x="457200" y="164592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182880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「集中線。顔のズームイン。驚いた顔。和室。ローアングル」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57200" y="250545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57200" y="250545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注目・緊張・驚き演出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182112" y="107899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273552" y="115214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776472" y="117043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汗マーク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>
            <a:off x="3291840" y="157276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0"/>
          <p:cNvSpPr/>
          <p:nvPr/>
        </p:nvSpPr>
        <p:spPr>
          <a:xfrm>
            <a:off x="3291840" y="164592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91840" y="182880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「口が三角になっている。漫画のような大きな汗マーク。呆れた顔」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291840" y="250545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291840" y="250545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困惑・ツッコミシーン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016752" y="107899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108192" y="115214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611112" y="117043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炎・オーラ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6126480" y="157276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0"/>
          <p:cNvSpPr/>
          <p:nvPr/>
        </p:nvSpPr>
        <p:spPr>
          <a:xfrm>
            <a:off x="6126480" y="164592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126480" y="182880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「やる気を出して目から炎が出ている。両手を握りしめて掲げている。燃える炎の背景」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126480" y="250545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126480" y="250545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熱量・やる気の表現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47472" y="295351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38912" y="302666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941832" y="304495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落ち込み表現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0"/>
          <p:cNvCxnSpPr/>
          <p:nvPr/>
        </p:nvCxnSpPr>
        <p:spPr>
          <a:xfrm>
            <a:off x="457200" y="344728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0"/>
          <p:cNvSpPr/>
          <p:nvPr/>
        </p:nvSpPr>
        <p:spPr>
          <a:xfrm>
            <a:off x="457200" y="352044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370332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「床に手をついて漫画のように激しく落ち込んでいる。どんよりした雲の背景」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437997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57200" y="4379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失敗・後悔シーン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182112" y="295351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273552" y="302666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776472" y="304495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キラキラ背景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0"/>
          <p:cNvCxnSpPr/>
          <p:nvPr/>
        </p:nvCxnSpPr>
        <p:spPr>
          <a:xfrm>
            <a:off x="3291840" y="344728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0"/>
          <p:cNvSpPr/>
          <p:nvPr/>
        </p:nvSpPr>
        <p:spPr>
          <a:xfrm>
            <a:off x="3291840" y="352044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291840" y="370332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「ウインクをする女性。背景はパステル風の星。片手でOKサイン」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291840" y="437997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3291840" y="4379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成功・達成感の表現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016752" y="2953512"/>
            <a:ext cx="2743200" cy="1755648"/>
          </a:xfrm>
          <a:prstGeom prst="roundRect">
            <a:avLst>
              <a:gd fmla="val 6771" name="adj"/>
            </a:avLst>
          </a:prstGeom>
          <a:solidFill>
            <a:srgbClr val="FDF4F7"/>
          </a:solidFill>
          <a:ln cap="flat" cmpd="sng" w="1270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2D0F1A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6108192" y="302666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611112" y="3044952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魂が抜ける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0"/>
          <p:cNvCxnSpPr/>
          <p:nvPr/>
        </p:nvCxnSpPr>
        <p:spPr>
          <a:xfrm>
            <a:off x="6126480" y="3447288"/>
            <a:ext cx="2523744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0"/>
          <p:cNvSpPr/>
          <p:nvPr/>
        </p:nvSpPr>
        <p:spPr>
          <a:xfrm>
            <a:off x="6126480" y="3520440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20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2030"/>
                </a:solidFill>
                <a:latin typeface="Calibri"/>
                <a:ea typeface="Calibri"/>
                <a:cs typeface="Calibri"/>
                <a:sym typeface="Calibri"/>
              </a:rPr>
              <a:t>プロンプト例：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126480" y="3703320"/>
            <a:ext cx="25237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「漫画のように激しく驚いているところ。口からうさぎの魂が出ている。白い背景」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126480" y="4379976"/>
            <a:ext cx="2523744" cy="256032"/>
          </a:xfrm>
          <a:prstGeom prst="roundRect">
            <a:avLst>
              <a:gd fmla="val 21429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126480" y="4379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衝撃・大驚きシーン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0F1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8B1A4A">
              <a:alpha val="27843"/>
            </a:srgbClr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-731520" y="3657600"/>
            <a:ext cx="2926080" cy="2926080"/>
          </a:xfrm>
          <a:prstGeom prst="ellipse">
            <a:avLst/>
          </a:prstGeom>
          <a:solidFill>
            <a:srgbClr val="4A2030">
              <a:alpha val="50196"/>
            </a:srgbClr>
          </a:solidFill>
          <a:ln cap="flat" cmpd="sng" w="1270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25603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応用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57200" y="74980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4コマ以外の使い道 — 研修現場を変える4つの活用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プロバナナ × 研修講師の全フィールド攻略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65760" y="1572768"/>
            <a:ext cx="4251960" cy="1600200"/>
          </a:xfrm>
          <a:prstGeom prst="roundRect">
            <a:avLst>
              <a:gd fmla="val 8000" name="adj"/>
            </a:avLst>
          </a:prstGeom>
          <a:solidFill>
            <a:srgbClr val="FDF4F7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02920" y="168249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005840" y="1682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サムネイル作成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005840" y="195681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Qiita記事・社内ノート・YouTube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1"/>
          <p:cNvCxnSpPr/>
          <p:nvPr/>
        </p:nvCxnSpPr>
        <p:spPr>
          <a:xfrm>
            <a:off x="502920" y="2231136"/>
            <a:ext cx="3986784" cy="0"/>
          </a:xfrm>
          <a:prstGeom prst="straightConnector1">
            <a:avLst/>
          </a:prstGeom>
          <a:noFill/>
          <a:ln cap="flat" cmpd="sng" w="1015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1"/>
          <p:cNvSpPr/>
          <p:nvPr/>
        </p:nvSpPr>
        <p:spPr>
          <a:xfrm>
            <a:off x="530352" y="230428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キャラシート＋タイトル文字を投入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30352" y="257860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「いい感じのサムネ作って」だけでOK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30352" y="285292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5分で複数案→最良のものを使う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773168" y="1572768"/>
            <a:ext cx="4251960" cy="1600200"/>
          </a:xfrm>
          <a:prstGeom prst="roundRect">
            <a:avLst>
              <a:gd fmla="val 8000" name="adj"/>
            </a:avLst>
          </a:prstGeom>
          <a:solidFill>
            <a:srgbClr val="FDF4F7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4910328" y="168249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13248" y="1682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図解・挿絵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413248" y="195681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説明資料・テキスト補足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1"/>
          <p:cNvCxnSpPr/>
          <p:nvPr/>
        </p:nvCxnSpPr>
        <p:spPr>
          <a:xfrm>
            <a:off x="4910328" y="2231136"/>
            <a:ext cx="3986784" cy="0"/>
          </a:xfrm>
          <a:prstGeom prst="straightConnector1">
            <a:avLst/>
          </a:prstGeom>
          <a:noFill/>
          <a:ln cap="flat" cmpd="sng" w="1015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1"/>
          <p:cNvSpPr/>
          <p:nvPr/>
        </p:nvSpPr>
        <p:spPr>
          <a:xfrm>
            <a:off x="4937760" y="230428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記事本文2000字を読み込ませて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937760" y="257860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「要約して図解にして」で一撃完成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937760" y="285292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文章の理解度が格段にアップ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65760" y="3310128"/>
            <a:ext cx="4251960" cy="1600200"/>
          </a:xfrm>
          <a:prstGeom prst="roundRect">
            <a:avLst>
              <a:gd fmla="val 8000" name="adj"/>
            </a:avLst>
          </a:prstGeom>
          <a:solidFill>
            <a:srgbClr val="FDF4F7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02920" y="341985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005840" y="341985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コミックエッセイ連載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005840" y="369417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SNS・社内ブログ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1"/>
          <p:cNvCxnSpPr/>
          <p:nvPr/>
        </p:nvCxnSpPr>
        <p:spPr>
          <a:xfrm>
            <a:off x="502920" y="3968496"/>
            <a:ext cx="3986784" cy="0"/>
          </a:xfrm>
          <a:prstGeom prst="straightConnector1">
            <a:avLst/>
          </a:prstGeom>
          <a:noFill/>
          <a:ln cap="flat" cmpd="sng" w="1015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1"/>
          <p:cNvSpPr/>
          <p:nvPr/>
        </p:nvSpPr>
        <p:spPr>
          <a:xfrm>
            <a:off x="530352" y="404164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実体験をネタにして週1投稿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30352" y="431596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SNSのインプ・保存数が急伸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30352" y="459028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「IT研修あるある」ジャンルが空白地帯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773168" y="3310128"/>
            <a:ext cx="4251960" cy="1600200"/>
          </a:xfrm>
          <a:prstGeom prst="roundRect">
            <a:avLst>
              <a:gd fmla="val 8000" name="adj"/>
            </a:avLst>
          </a:prstGeom>
          <a:solidFill>
            <a:srgbClr val="FDF4F7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2D0F1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910328" y="341985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413248" y="341985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スライド・1枚まとめ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413248" y="369417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7078"/>
                </a:solidFill>
                <a:latin typeface="Calibri"/>
                <a:ea typeface="Calibri"/>
                <a:cs typeface="Calibri"/>
                <a:sym typeface="Calibri"/>
              </a:rPr>
              <a:t>研修資料・振り返りシート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1"/>
          <p:cNvCxnSpPr/>
          <p:nvPr/>
        </p:nvCxnSpPr>
        <p:spPr>
          <a:xfrm>
            <a:off x="4910328" y="3968496"/>
            <a:ext cx="3986784" cy="0"/>
          </a:xfrm>
          <a:prstGeom prst="straightConnector1">
            <a:avLst/>
          </a:prstGeom>
          <a:noFill/>
          <a:ln cap="flat" cmpd="sng" w="10150">
            <a:solidFill>
              <a:srgbClr val="D46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1"/>
          <p:cNvSpPr/>
          <p:nvPr/>
        </p:nvSpPr>
        <p:spPr>
          <a:xfrm>
            <a:off x="4937760" y="404164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テキストを渡すだけでスライド化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937760" y="431596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Keynote/PPT不要で完成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937760" y="459028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• Canvaと組み合わせれば完璧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20040" y="0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FAQ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97280" y="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よくあるNG ＆ 解決策 — 失敗パターン早見表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347472" y="112471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347472" y="112471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960120" y="113385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コマの読む方向が逆になる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617720" y="115214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983480" y="113385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「右から左に読ませる日本のマンガ風」を必ずプロンプトに入れる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2"/>
          <p:cNvCxnSpPr/>
          <p:nvPr/>
        </p:nvCxnSpPr>
        <p:spPr>
          <a:xfrm>
            <a:off x="347472" y="1645920"/>
            <a:ext cx="845820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2"/>
          <p:cNvSpPr/>
          <p:nvPr/>
        </p:nvSpPr>
        <p:spPr>
          <a:xfrm>
            <a:off x="347472" y="176479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347472" y="176479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960120" y="177393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文字（漢字）が変な形になる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617720" y="17922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983480" y="177393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誤字はCanvaのテキスト編集で直すか、再生成が最速（1回20円）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2"/>
          <p:cNvCxnSpPr/>
          <p:nvPr/>
        </p:nvCxnSpPr>
        <p:spPr>
          <a:xfrm>
            <a:off x="347472" y="2286000"/>
            <a:ext cx="845820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2"/>
          <p:cNvSpPr/>
          <p:nvPr/>
        </p:nvSpPr>
        <p:spPr>
          <a:xfrm>
            <a:off x="347472" y="240487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347472" y="240487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960120" y="241401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毎回キャラの顔・色が変わる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617720" y="243230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983480" y="241401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キャラシートを毎回参照画像に入れる。シンプルなデザインに変更も検討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2"/>
          <p:cNvCxnSpPr/>
          <p:nvPr/>
        </p:nvCxnSpPr>
        <p:spPr>
          <a:xfrm>
            <a:off x="347472" y="2926080"/>
            <a:ext cx="845820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2"/>
          <p:cNvSpPr/>
          <p:nvPr/>
        </p:nvSpPr>
        <p:spPr>
          <a:xfrm>
            <a:off x="347472" y="304495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347472" y="304495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960120" y="305409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コマ割りが崩れてしまう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617720" y="307238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983480" y="30540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テンプレ画像を一緒に読み込ませる。9:16の縦長サイズを使う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2"/>
          <p:cNvCxnSpPr/>
          <p:nvPr/>
        </p:nvCxnSpPr>
        <p:spPr>
          <a:xfrm>
            <a:off x="347472" y="3566160"/>
            <a:ext cx="845820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2"/>
          <p:cNvSpPr/>
          <p:nvPr/>
        </p:nvSpPr>
        <p:spPr>
          <a:xfrm>
            <a:off x="347472" y="368503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347472" y="368503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960120" y="369417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思ったような表情が出ない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617720" y="371246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983480" y="36941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「漫画のような表現」「大げさに」を追加。複数回ガチャして選ぶ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2"/>
          <p:cNvCxnSpPr/>
          <p:nvPr/>
        </p:nvCxnSpPr>
        <p:spPr>
          <a:xfrm>
            <a:off x="347472" y="4206240"/>
            <a:ext cx="8458200" cy="0"/>
          </a:xfrm>
          <a:prstGeom prst="straightConnector1">
            <a:avLst/>
          </a:prstGeom>
          <a:noFill/>
          <a:ln cap="flat" cmpd="sng" w="12700">
            <a:solidFill>
              <a:srgbClr val="F2D7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2"/>
          <p:cNvSpPr/>
          <p:nvPr/>
        </p:nvSpPr>
        <p:spPr>
          <a:xfrm>
            <a:off x="347472" y="4325112"/>
            <a:ext cx="530352" cy="347472"/>
          </a:xfrm>
          <a:prstGeom prst="roundRect">
            <a:avLst>
              <a:gd fmla="val 18421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347472" y="4325112"/>
            <a:ext cx="530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960120" y="433425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背景が毎回違う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617720" y="435254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983480" y="433425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0F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0F1A"/>
                </a:solidFill>
                <a:latin typeface="Calibri"/>
                <a:ea typeface="Calibri"/>
                <a:cs typeface="Calibri"/>
                <a:sym typeface="Calibri"/>
              </a:rPr>
              <a:t>背景の具体的指示を入れる（例：「和室」「白背景」「オフィス」）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47472" y="4919472"/>
            <a:ext cx="8458200" cy="274320"/>
          </a:xfrm>
          <a:prstGeom prst="roundRect">
            <a:avLst>
              <a:gd fmla="val 23333" name="adj"/>
            </a:avLst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347472" y="4919472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🐰 基本は「再生成」が最速解決策。1回20円なのでガチャを気軽に回そう！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F30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8B1A4A">
              <a:alpha val="4784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-731520" y="3657600"/>
            <a:ext cx="3200400" cy="3200400"/>
          </a:xfrm>
          <a:prstGeom prst="ellipse">
            <a:avLst/>
          </a:prstGeom>
          <a:solidFill>
            <a:srgbClr val="4A2030">
              <a:alpha val="45098"/>
            </a:srgbClr>
          </a:solidFill>
          <a:ln cap="flat" cmpd="sng" w="12700">
            <a:solidFill>
              <a:srgbClr val="4A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まとめ — AI漫画制作 実践5か条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C8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E8B4C8"/>
                </a:solidFill>
                <a:latin typeface="Calibri"/>
                <a:ea typeface="Calibri"/>
                <a:cs typeface="Calibri"/>
                <a:sym typeface="Calibri"/>
              </a:rPr>
              <a:t>IT研修講師がプロバナナで漫画を作るためのエッセンス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11480" y="1289304"/>
            <a:ext cx="457200" cy="457200"/>
          </a:xfrm>
          <a:prstGeom prst="ellipse">
            <a:avLst/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411480" y="12893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005840" y="128930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キャラシートを先に作る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3794760" y="130759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シンプルなデザイン・左右対称・要素3つで定義。一度作れば何度でも使い回せる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3"/>
          <p:cNvCxnSpPr/>
          <p:nvPr/>
        </p:nvCxnSpPr>
        <p:spPr>
          <a:xfrm>
            <a:off x="411480" y="187452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3"/>
          <p:cNvSpPr/>
          <p:nvPr/>
        </p:nvSpPr>
        <p:spPr>
          <a:xfrm>
            <a:off x="411480" y="2002536"/>
            <a:ext cx="457200" cy="457200"/>
          </a:xfrm>
          <a:prstGeom prst="ellipse">
            <a:avLst/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411480" y="20025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005840" y="200253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テンプレ＋「右から左」で崩れ防止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794760" y="202082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コマ割りテンプレと「右から左に読ませる日本のマンガ風」は鉄板プロンプト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3"/>
          <p:cNvCxnSpPr/>
          <p:nvPr/>
        </p:nvCxnSpPr>
        <p:spPr>
          <a:xfrm>
            <a:off x="411480" y="2587752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3"/>
          <p:cNvSpPr/>
          <p:nvPr/>
        </p:nvSpPr>
        <p:spPr>
          <a:xfrm>
            <a:off x="411480" y="2715768"/>
            <a:ext cx="457200" cy="457200"/>
          </a:xfrm>
          <a:prstGeom prst="ellipse">
            <a:avLst/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411480" y="2715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005840" y="27157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台本はAIに作らせる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794760" y="273405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「研修テーマ＋あるある」をChatGPTに渡せば4コマ台本は30秒で完成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>
            <a:off x="411480" y="3300984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3"/>
          <p:cNvSpPr/>
          <p:nvPr/>
        </p:nvSpPr>
        <p:spPr>
          <a:xfrm>
            <a:off x="411480" y="3429000"/>
            <a:ext cx="457200" cy="457200"/>
          </a:xfrm>
          <a:prstGeom prst="ellipse">
            <a:avLst/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1148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四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1005840" y="34290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「漫画のような表現」で感情を盛る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3794760" y="34472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集中線・汗マーク・炎・魂など強調表現を1フレーズで追加できる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3"/>
          <p:cNvCxnSpPr/>
          <p:nvPr/>
        </p:nvCxnSpPr>
        <p:spPr>
          <a:xfrm>
            <a:off x="411480" y="4014216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13"/>
          <p:cNvSpPr/>
          <p:nvPr/>
        </p:nvSpPr>
        <p:spPr>
          <a:xfrm>
            <a:off x="411480" y="4142232"/>
            <a:ext cx="457200" cy="457200"/>
          </a:xfrm>
          <a:prstGeom prst="ellipse">
            <a:avLst/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411480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005840" y="41422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A6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9A6C"/>
                </a:solidFill>
                <a:latin typeface="Calibri"/>
                <a:ea typeface="Calibri"/>
                <a:cs typeface="Calibri"/>
                <a:sym typeface="Calibri"/>
              </a:rPr>
              <a:t>4コマ以外に横展開する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3794760" y="41605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サムネイル・図解・スライド・コミックエッセイに同じキャラで展開する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7E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2D7E0"/>
                </a:solidFill>
                <a:latin typeface="Calibri"/>
                <a:ea typeface="Calibri"/>
                <a:cs typeface="Calibri"/>
                <a:sym typeface="Calibri"/>
              </a:rPr>
              <a:t>うさうさ研修工房 🐰　|　面白きこともなき世を面白く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